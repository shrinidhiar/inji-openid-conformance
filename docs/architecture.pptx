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2937"/>
                </a:solidFill>
                <a:latin typeface="Calibri"/>
              </a:rPr>
              <a:t>Original runner on main: Architecture (existing-environment view)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49808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B6573"/>
                </a:solidFill>
                <a:latin typeface="Calibri"/>
              </a:rPr>
              <a:t>Main-era view: you start Certify and Verify yourself. The full-stack path on branch e2e-full-run is on the next slide.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325880"/>
            <a:ext cx="3200400" cy="4892040"/>
          </a:xfrm>
          <a:prstGeom prst="roundRect">
            <a:avLst>
              <a:gd name="adj" fmla="val 3000"/>
            </a:avLst>
          </a:prstGeom>
          <a:noFill/>
          <a:ln w="15875">
            <a:solidFill>
              <a:srgbClr val="9CA3A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tIns="91440" wrap="square"/>
          <a:lstStyle/>
          <a:p>
            <a:pPr algn="ctr"/>
            <a:r>
              <a:rPr sz="1200" b="1">
                <a:solidFill>
                  <a:srgbClr val="5B6573"/>
                </a:solidFill>
                <a:latin typeface="Calibri"/>
              </a:rPr>
              <a:t>Host (this repository)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0" y="1325880"/>
            <a:ext cx="3017520" cy="4892040"/>
          </a:xfrm>
          <a:prstGeom prst="roundRect">
            <a:avLst>
              <a:gd name="adj" fmla="val 3000"/>
            </a:avLst>
          </a:prstGeom>
          <a:noFill/>
          <a:ln w="15875">
            <a:solidFill>
              <a:srgbClr val="9CA3A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tIns="91440" wrap="square"/>
          <a:lstStyle/>
          <a:p>
            <a:pPr algn="ctr"/>
            <a:r>
              <a:rPr sz="1200" b="1">
                <a:solidFill>
                  <a:srgbClr val="5B6573"/>
                </a:solidFill>
                <a:latin typeface="Calibri"/>
              </a:rPr>
              <a:t>Docker Compose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326880" y="1325880"/>
            <a:ext cx="2514600" cy="4892040"/>
          </a:xfrm>
          <a:prstGeom prst="roundRect">
            <a:avLst>
              <a:gd name="adj" fmla="val 3000"/>
            </a:avLst>
          </a:prstGeom>
          <a:noFill/>
          <a:ln w="15875">
            <a:solidFill>
              <a:srgbClr val="9CA3A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tIns="91440" wrap="square"/>
          <a:lstStyle/>
          <a:p>
            <a:pPr algn="ctr"/>
            <a:r>
              <a:rPr sz="1200" b="1">
                <a:solidFill>
                  <a:srgbClr val="5B6573"/>
                </a:solidFill>
                <a:latin typeface="Calibri"/>
              </a:rPr>
              <a:t>System under test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920240"/>
            <a:ext cx="2834640" cy="118872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1905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F2937"/>
                </a:solidFill>
                <a:latin typeface="Calibri"/>
              </a:rPr>
              <a:t>docker/configs/</a:t>
            </a:r>
          </a:p>
          <a:p>
            <a:pPr algn="ctr"/>
            <a:r>
              <a:rPr sz="1100" b="0">
                <a:solidFill>
                  <a:srgbClr val="5B6573"/>
                </a:solidFill>
                <a:latin typeface="Calibri"/>
              </a:rPr>
              <a:t>certify-issuer-config.json</a:t>
            </a:r>
          </a:p>
          <a:p>
            <a:pPr algn="ctr"/>
            <a:r>
              <a:rPr sz="1100" b="0">
                <a:solidFill>
                  <a:srgbClr val="5B6573"/>
                </a:solidFill>
                <a:latin typeface="Calibri"/>
              </a:rPr>
              <a:t>verify-verifier-config.json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566160"/>
            <a:ext cx="2834640" cy="1188720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 w="19050">
            <a:solidFill>
              <a:srgbClr val="2F5D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F2937"/>
                </a:solidFill>
                <a:latin typeface="Calibri"/>
              </a:rPr>
              <a:t>scripts/conformance_runner.py</a:t>
            </a:r>
          </a:p>
          <a:p>
            <a:pPr algn="ctr"/>
            <a:r>
              <a:rPr sz="1100" b="0">
                <a:solidFill>
                  <a:srgbClr val="5B6573"/>
                </a:solidFill>
                <a:latin typeface="Calibri"/>
              </a:rPr>
              <a:t>Python + requests</a:t>
            </a:r>
          </a:p>
          <a:p>
            <a:pPr algn="ctr"/>
            <a:r>
              <a:rPr sz="1100" b="0">
                <a:solidFill>
                  <a:srgbClr val="5B6573"/>
                </a:solidFill>
                <a:latin typeface="Calibri"/>
              </a:rPr>
              <a:t>--component certify | verify | --combined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5120640"/>
            <a:ext cx="2834640" cy="86868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1905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F2937"/>
                </a:solidFill>
                <a:latin typeface="Calibri"/>
              </a:rPr>
              <a:t>conformance-results.json</a:t>
            </a:r>
          </a:p>
          <a:p>
            <a:pPr algn="ctr"/>
            <a:r>
              <a:rPr sz="1100" b="0">
                <a:solidFill>
                  <a:srgbClr val="5B6573"/>
                </a:solidFill>
                <a:latin typeface="Calibri"/>
              </a:rPr>
              <a:t>JSON summary, git-ignored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03520" y="3566160"/>
            <a:ext cx="2468880" cy="1188720"/>
          </a:xfrm>
          <a:prstGeom prst="roundRect">
            <a:avLst>
              <a:gd name="adj" fmla="val 8000"/>
            </a:avLst>
          </a:prstGeom>
          <a:solidFill>
            <a:srgbClr val="EAF6EE"/>
          </a:solidFill>
          <a:ln w="19050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F2937"/>
                </a:solidFill>
                <a:latin typeface="Calibri"/>
              </a:rPr>
              <a:t>Conformance Suite server</a:t>
            </a:r>
          </a:p>
          <a:p>
            <a:pPr algn="ctr"/>
            <a:r>
              <a:rPr sz="1100" b="0">
                <a:solidFill>
                  <a:srgbClr val="5B6573"/>
                </a:solidFill>
                <a:latin typeface="Calibri"/>
              </a:rPr>
              <a:t>registry.gitlab.com/openid/</a:t>
            </a:r>
          </a:p>
          <a:p>
            <a:pPr algn="ctr"/>
            <a:r>
              <a:rPr sz="1100" b="0">
                <a:solidFill>
                  <a:srgbClr val="5B6573"/>
                </a:solidFill>
                <a:latin typeface="Calibri"/>
              </a:rPr>
              <a:t>conformance-suite  :8080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03520" y="5120640"/>
            <a:ext cx="2468880" cy="868680"/>
          </a:xfrm>
          <a:prstGeom prst="roundRect">
            <a:avLst>
              <a:gd name="adj" fmla="val 8000"/>
            </a:avLst>
          </a:prstGeom>
          <a:solidFill>
            <a:srgbClr val="EAF6EE"/>
          </a:solidFill>
          <a:ln w="19050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F2937"/>
                </a:solidFill>
                <a:latin typeface="Calibri"/>
              </a:rPr>
              <a:t>MongoDB 6.0  :27017</a:t>
            </a:r>
          </a:p>
          <a:p>
            <a:pPr algn="ctr"/>
            <a:r>
              <a:rPr sz="1100" b="0">
                <a:solidFill>
                  <a:srgbClr val="5B6573"/>
                </a:solidFill>
                <a:latin typeface="Calibri"/>
              </a:rPr>
              <a:t>volume: mongo_data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509760" y="1920240"/>
            <a:ext cx="2148840" cy="1463040"/>
          </a:xfrm>
          <a:prstGeom prst="roundRect">
            <a:avLst>
              <a:gd name="adj" fmla="val 8000"/>
            </a:avLst>
          </a:prstGeom>
          <a:solidFill>
            <a:srgbClr val="FFF4E5"/>
          </a:solidFill>
          <a:ln w="19050">
            <a:solidFill>
              <a:srgbClr val="C276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F2937"/>
                </a:solidFill>
                <a:latin typeface="Calibri"/>
              </a:rPr>
              <a:t>Inji Certify</a:t>
            </a:r>
          </a:p>
          <a:p>
            <a:pPr algn="ctr"/>
            <a:r>
              <a:rPr sz="1100" b="0">
                <a:solidFill>
                  <a:srgbClr val="5B6573"/>
                </a:solidFill>
                <a:latin typeface="Calibri"/>
              </a:rPr>
              <a:t>issuer, :8081</a:t>
            </a:r>
          </a:p>
          <a:p>
            <a:pPr algn="ctr"/>
            <a:r>
              <a:rPr sz="1100" b="0">
                <a:solidFill>
                  <a:srgbClr val="5B6573"/>
                </a:solidFill>
                <a:latin typeface="Calibri"/>
              </a:rPr>
              <a:t>certify.local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09760" y="4297680"/>
            <a:ext cx="2148840" cy="1463040"/>
          </a:xfrm>
          <a:prstGeom prst="roundRect">
            <a:avLst>
              <a:gd name="adj" fmla="val 8000"/>
            </a:avLst>
          </a:prstGeom>
          <a:solidFill>
            <a:srgbClr val="FFF4E5"/>
          </a:solidFill>
          <a:ln w="19050">
            <a:solidFill>
              <a:srgbClr val="C276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F2937"/>
                </a:solidFill>
                <a:latin typeface="Calibri"/>
              </a:rPr>
              <a:t>Inji Verify</a:t>
            </a:r>
          </a:p>
          <a:p>
            <a:pPr algn="ctr"/>
            <a:r>
              <a:rPr sz="1100" b="0">
                <a:solidFill>
                  <a:srgbClr val="5B6573"/>
                </a:solidFill>
                <a:latin typeface="Calibri"/>
              </a:rPr>
              <a:t>verifier, :8082</a:t>
            </a:r>
          </a:p>
          <a:p>
            <a:pPr algn="ctr"/>
            <a:r>
              <a:rPr sz="1100" b="0">
                <a:solidFill>
                  <a:srgbClr val="5B6573"/>
                </a:solidFill>
                <a:latin typeface="Calibri"/>
              </a:rPr>
              <a:t>verify.local</a:t>
            </a:r>
          </a:p>
        </p:txBody>
      </p:sp>
      <p:cxnSp>
        <p:nvCxnSpPr>
          <p:cNvPr id="14" name="Connector 13"/>
          <p:cNvCxnSpPr>
            <a:stCxn id="7" idx="2"/>
            <a:endCxn id="8" idx="0"/>
          </p:cNvCxnSpPr>
          <p:nvPr/>
        </p:nvCxnSpPr>
        <p:spPr>
          <a:xfrm flipH="1">
            <a:off x="1965960" y="3108960"/>
            <a:ext cx="0" cy="457200"/>
          </a:xfrm>
          <a:prstGeom prst="line">
            <a:avLst/>
          </a:prstGeom>
          <a:ln w="25400">
            <a:solidFill>
              <a:srgbClr val="37415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2084831" y="3200400"/>
            <a:ext cx="118872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1000">
                <a:solidFill>
                  <a:srgbClr val="1F2937"/>
                </a:solidFill>
                <a:latin typeface="Consolas"/>
              </a:rPr>
              <a:t>load JSON</a:t>
            </a:r>
          </a:p>
        </p:txBody>
      </p:sp>
      <p:cxnSp>
        <p:nvCxnSpPr>
          <p:cNvPr id="16" name="Connector 15"/>
          <p:cNvCxnSpPr>
            <a:stCxn id="8" idx="2"/>
            <a:endCxn id="9" idx="0"/>
          </p:cNvCxnSpPr>
          <p:nvPr/>
        </p:nvCxnSpPr>
        <p:spPr>
          <a:xfrm flipH="1">
            <a:off x="1965960" y="4754880"/>
            <a:ext cx="0" cy="365760"/>
          </a:xfrm>
          <a:prstGeom prst="line">
            <a:avLst/>
          </a:prstGeom>
          <a:ln w="25400">
            <a:solidFill>
              <a:srgbClr val="37415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2084831" y="4800600"/>
            <a:ext cx="128016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1000">
                <a:solidFill>
                  <a:srgbClr val="1F2937"/>
                </a:solidFill>
                <a:latin typeface="Consolas"/>
              </a:rPr>
              <a:t>write results</a:t>
            </a:r>
          </a:p>
        </p:txBody>
      </p:sp>
      <p:cxnSp>
        <p:nvCxnSpPr>
          <p:cNvPr id="18" name="Connector 17"/>
          <p:cNvCxnSpPr>
            <a:stCxn id="8" idx="3"/>
            <a:endCxn id="10" idx="1"/>
          </p:cNvCxnSpPr>
          <p:nvPr/>
        </p:nvCxnSpPr>
        <p:spPr>
          <a:xfrm flipV="1">
            <a:off x="3383280" y="4160520"/>
            <a:ext cx="1920240" cy="0"/>
          </a:xfrm>
          <a:prstGeom prst="line">
            <a:avLst/>
          </a:prstGeom>
          <a:ln w="25400">
            <a:solidFill>
              <a:srgbClr val="37415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3611880" y="4005072"/>
            <a:ext cx="1371600" cy="8229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900">
                <a:solidFill>
                  <a:srgbClr val="1F2937"/>
                </a:solidFill>
                <a:latin typeface="Consolas"/>
              </a:rPr>
              <a:t>GET  /api/plan</a:t>
            </a:r>
          </a:p>
          <a:p>
            <a:pPr algn="l"/>
            <a:r>
              <a:rPr sz="900">
                <a:solidFill>
                  <a:srgbClr val="1F2937"/>
                </a:solidFill>
                <a:latin typeface="Consolas"/>
              </a:rPr>
              <a:t>POST /api/plan</a:t>
            </a:r>
          </a:p>
          <a:p>
            <a:pPr algn="l"/>
            <a:r>
              <a:rPr sz="900">
                <a:solidFill>
                  <a:srgbClr val="1F2937"/>
                </a:solidFill>
                <a:latin typeface="Consolas"/>
              </a:rPr>
              <a:t>POST /api/runner</a:t>
            </a:r>
          </a:p>
          <a:p>
            <a:pPr algn="l"/>
            <a:r>
              <a:rPr sz="900">
                <a:solidFill>
                  <a:srgbClr val="1F2937"/>
                </a:solidFill>
                <a:latin typeface="Consolas"/>
              </a:rPr>
              <a:t>GET  /api/log/{id}</a:t>
            </a:r>
          </a:p>
        </p:txBody>
      </p:sp>
      <p:cxnSp>
        <p:nvCxnSpPr>
          <p:cNvPr id="20" name="Connector 19"/>
          <p:cNvCxnSpPr>
            <a:stCxn id="10" idx="2"/>
            <a:endCxn id="11" idx="0"/>
          </p:cNvCxnSpPr>
          <p:nvPr/>
        </p:nvCxnSpPr>
        <p:spPr>
          <a:xfrm flipH="1">
            <a:off x="6537960" y="4754880"/>
            <a:ext cx="0" cy="365760"/>
          </a:xfrm>
          <a:prstGeom prst="line">
            <a:avLst/>
          </a:prstGeom>
          <a:ln w="25400">
            <a:solidFill>
              <a:srgbClr val="374151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583680" y="4773168"/>
            <a:ext cx="11430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1000">
                <a:solidFill>
                  <a:srgbClr val="1F2937"/>
                </a:solidFill>
                <a:latin typeface="Consolas"/>
              </a:rPr>
              <a:t>Mongo URI</a:t>
            </a:r>
          </a:p>
        </p:txBody>
      </p:sp>
      <p:cxnSp>
        <p:nvCxnSpPr>
          <p:cNvPr id="22" name="Connector 21"/>
          <p:cNvCxnSpPr>
            <a:stCxn id="10" idx="3"/>
            <a:endCxn id="12" idx="1"/>
          </p:cNvCxnSpPr>
          <p:nvPr/>
        </p:nvCxnSpPr>
        <p:spPr>
          <a:xfrm flipV="1">
            <a:off x="7772400" y="2651760"/>
            <a:ext cx="1737360" cy="1508760"/>
          </a:xfrm>
          <a:prstGeom prst="line">
            <a:avLst/>
          </a:prstGeom>
          <a:ln w="25400">
            <a:solidFill>
              <a:srgbClr val="37415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>
            <a:stCxn id="10" idx="3"/>
            <a:endCxn id="13" idx="1"/>
          </p:cNvCxnSpPr>
          <p:nvPr/>
        </p:nvCxnSpPr>
        <p:spPr>
          <a:xfrm>
            <a:off x="7772400" y="4160520"/>
            <a:ext cx="1737360" cy="868680"/>
          </a:xfrm>
          <a:prstGeom prst="line">
            <a:avLst/>
          </a:prstGeom>
          <a:ln w="25400">
            <a:solidFill>
              <a:srgbClr val="37415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8092440" y="3154680"/>
            <a:ext cx="1097280" cy="457200"/>
          </a:xfrm>
          <a:prstGeom prst="rect">
            <a:avLst/>
          </a:prstGeom>
          <a:solidFill>
            <a:srgbClr val="FFFFFF"/>
          </a:solidFill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1000">
                <a:solidFill>
                  <a:srgbClr val="1F2937"/>
                </a:solidFill>
                <a:latin typeface="Consolas"/>
              </a:rPr>
              <a:t>OpenID4VCI</a:t>
            </a:r>
          </a:p>
          <a:p>
            <a:pPr algn="ctr"/>
            <a:r>
              <a:rPr sz="1000">
                <a:solidFill>
                  <a:srgbClr val="1F2937"/>
                </a:solidFill>
                <a:latin typeface="Consolas"/>
              </a:rPr>
              <a:t>issuer plan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92440" y="4434840"/>
            <a:ext cx="1097280" cy="457200"/>
          </a:xfrm>
          <a:prstGeom prst="rect">
            <a:avLst/>
          </a:prstGeom>
          <a:solidFill>
            <a:srgbClr val="FFFFFF"/>
          </a:solidFill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1000">
                <a:solidFill>
                  <a:srgbClr val="1F2937"/>
                </a:solidFill>
                <a:latin typeface="Consolas"/>
              </a:rPr>
              <a:t>OpenID4VP</a:t>
            </a:r>
          </a:p>
          <a:p>
            <a:pPr algn="ctr"/>
            <a:r>
              <a:rPr sz="1000">
                <a:solidFill>
                  <a:srgbClr val="1F2937"/>
                </a:solidFill>
                <a:latin typeface="Consolas"/>
              </a:rPr>
              <a:t>verifier plan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64040" y="3474720"/>
            <a:ext cx="2286000" cy="7315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900">
                <a:solidFill>
                  <a:srgbClr val="1F2937"/>
                </a:solidFill>
                <a:latin typeface="Consolas"/>
              </a:rPr>
              <a:t>started separately;</a:t>
            </a:r>
          </a:p>
          <a:p>
            <a:pPr algn="ctr"/>
            <a:r>
              <a:rPr sz="900">
                <a:solidFill>
                  <a:srgbClr val="1F2937"/>
                </a:solidFill>
                <a:latin typeface="Consolas"/>
              </a:rPr>
              <a:t>URLs set in the configs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64040" y="5833872"/>
            <a:ext cx="22860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900">
                <a:solidFill>
                  <a:srgbClr val="1F2937"/>
                </a:solidFill>
                <a:latin typeface="Consolas"/>
              </a:rPr>
              <a:t/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2937"/>
                </a:solidFill>
                <a:latin typeface="Calibri"/>
              </a:rPr>
              <a:t>Full-stack native run (branch e2e-full-run):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49808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5B6573"/>
                </a:solidFill>
                <a:latin typeface="Calibri"/>
              </a:rPr>
              <a:t>One command boots one disposable stack and runs the selected happy-flow modules. Not full official plans, not certification.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325880"/>
            <a:ext cx="3200400" cy="3566160"/>
          </a:xfrm>
          <a:prstGeom prst="roundRect">
            <a:avLst>
              <a:gd name="adj" fmla="val 6000"/>
            </a:avLst>
          </a:prstGeom>
          <a:noFill/>
          <a:ln w="19050">
            <a:solidFill>
              <a:srgbClr val="9CA3A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  <a:r>
              <a:rPr sz="1200" b="1">
                <a:solidFill>
                  <a:srgbClr val="5B6573"/>
                </a:solidFill>
                <a:latin typeface="Calibri"/>
              </a:rPr>
              <a:t>Host harness (CI runner or scratch Linux box)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0" y="1325880"/>
            <a:ext cx="4023360" cy="3566160"/>
          </a:xfrm>
          <a:prstGeom prst="roundRect">
            <a:avLst>
              <a:gd name="adj" fmla="val 6000"/>
            </a:avLst>
          </a:prstGeom>
          <a:noFill/>
          <a:ln w="19050">
            <a:solidFill>
              <a:srgbClr val="9CA3A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  <a:r>
              <a:rPr sz="1200" b="1">
                <a:solidFill>
                  <a:srgbClr val="5B6573"/>
                </a:solidFill>
                <a:latin typeface="Calibri"/>
              </a:rPr>
              <a:t>One owned stack (Docker Compose, loopback)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0" y="1325880"/>
            <a:ext cx="3139440" cy="3566160"/>
          </a:xfrm>
          <a:prstGeom prst="roundRect">
            <a:avLst>
              <a:gd name="adj" fmla="val 6000"/>
            </a:avLst>
          </a:prstGeom>
          <a:noFill/>
          <a:ln w="19050">
            <a:solidFill>
              <a:srgbClr val="9CA3A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  <a:r>
              <a:rPr sz="1200" b="1">
                <a:solidFill>
                  <a:srgbClr val="5B6573"/>
                </a:solidFill>
                <a:latin typeface="Calibri"/>
              </a:rPr>
              <a:t>Evidence (public part audited)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83080"/>
            <a:ext cx="2834640" cy="96012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 w="1905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F2937"/>
                </a:solidFill>
                <a:latin typeface="Calibri"/>
              </a:rPr>
              <a:t>run-full-stack-conformance.sh</a:t>
            </a:r>
          </a:p>
          <a:p>
            <a:pPr algn="ctr"/>
            <a:r>
              <a:rPr sz="1100">
                <a:solidFill>
                  <a:srgbClr val="5B6573"/>
                </a:solidFill>
                <a:latin typeface="Calibri"/>
              </a:rPr>
              <a:t>--component certify | verify | --combined</a:t>
            </a:r>
          </a:p>
          <a:p>
            <a:pPr algn="ctr"/>
            <a:r>
              <a:rPr sz="1100">
                <a:solidFill>
                  <a:srgbClr val="5B6573"/>
                </a:solidFill>
                <a:latin typeface="Calibri"/>
              </a:rPr>
              <a:t>--approve-runtime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926080"/>
            <a:ext cx="2834640" cy="96012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 w="1905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F2937"/>
                </a:solidFill>
                <a:latin typeface="Calibri"/>
              </a:rPr>
              <a:t>run_combined.py</a:t>
            </a:r>
          </a:p>
          <a:p>
            <a:pPr algn="ctr"/>
            <a:r>
              <a:rPr sz="1100">
                <a:solidFill>
                  <a:srgbClr val="5B6573"/>
                </a:solidFill>
                <a:latin typeface="Calibri"/>
              </a:rPr>
              <a:t>owned lifecycle, selected modules</a:t>
            </a:r>
          </a:p>
          <a:p>
            <a:pPr algn="ctr"/>
            <a:r>
              <a:rPr sz="1100">
                <a:solidFill>
                  <a:srgbClr val="5B6573"/>
                </a:solidFill>
                <a:latin typeface="Calibri"/>
              </a:rPr>
              <a:t>exact cleanup of what it started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069080"/>
            <a:ext cx="2834640" cy="64008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 w="1905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F2937"/>
                </a:solidFill>
                <a:latin typeface="Calibri"/>
              </a:rPr>
              <a:t>api-testrig TestNG class per module</a:t>
            </a:r>
          </a:p>
          <a:p>
            <a:pPr algn="ctr"/>
            <a:r>
              <a:rPr sz="1000">
                <a:solidFill>
                  <a:srgbClr val="5B6573"/>
                </a:solidFill>
                <a:latin typeface="Calibri"/>
              </a:rPr>
              <a:t>native Extent + TestNG XML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783080"/>
            <a:ext cx="1737360" cy="914400"/>
          </a:xfrm>
          <a:prstGeom prst="roundRect">
            <a:avLst>
              <a:gd name="adj" fmla="val 6000"/>
            </a:avLst>
          </a:prstGeom>
          <a:solidFill>
            <a:srgbClr val="E8F1FB"/>
          </a:solidFill>
          <a:ln w="19050">
            <a:solidFill>
              <a:srgbClr val="3B6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F2937"/>
                </a:solidFill>
                <a:latin typeface="Calibri"/>
              </a:rPr>
              <a:t>OpenID suite + Mongo</a:t>
            </a:r>
          </a:p>
          <a:p>
            <a:pPr algn="ctr"/>
            <a:r>
              <a:rPr sz="1100">
                <a:solidFill>
                  <a:srgbClr val="5B6573"/>
                </a:solidFill>
                <a:latin typeface="Calibri"/>
              </a:rPr>
              <a:t>official suite, pinned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783080"/>
            <a:ext cx="1737360" cy="914400"/>
          </a:xfrm>
          <a:prstGeom prst="roundRect">
            <a:avLst>
              <a:gd name="adj" fmla="val 6000"/>
            </a:avLst>
          </a:prstGeom>
          <a:solidFill>
            <a:srgbClr val="FFF4E5"/>
          </a:solidFill>
          <a:ln w="19050">
            <a:solidFill>
              <a:srgbClr val="C276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F2937"/>
                </a:solidFill>
                <a:latin typeface="Calibri"/>
              </a:rPr>
              <a:t>Inji Certify</a:t>
            </a:r>
          </a:p>
          <a:p>
            <a:pPr algn="ctr"/>
            <a:r>
              <a:rPr sz="1100">
                <a:solidFill>
                  <a:srgbClr val="5B6573"/>
                </a:solidFill>
                <a:latin typeface="Calibri"/>
              </a:rPr>
              <a:t>pinned 8fdf716</a:t>
            </a:r>
          </a:p>
          <a:p>
            <a:pPr algn="ctr"/>
            <a:r>
              <a:rPr sz="1100">
                <a:solidFill>
                  <a:srgbClr val="5B6573"/>
                </a:solidFill>
                <a:latin typeface="Calibri"/>
              </a:rPr>
              <a:t>issuer under test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2880360"/>
            <a:ext cx="1737360" cy="914400"/>
          </a:xfrm>
          <a:prstGeom prst="roundRect">
            <a:avLst>
              <a:gd name="adj" fmla="val 6000"/>
            </a:avLst>
          </a:prstGeom>
          <a:solidFill>
            <a:srgbClr val="FFF4E5"/>
          </a:solidFill>
          <a:ln w="19050">
            <a:solidFill>
              <a:srgbClr val="C276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F2937"/>
                </a:solidFill>
                <a:latin typeface="Calibri"/>
              </a:rPr>
              <a:t>Inji Verify</a:t>
            </a:r>
          </a:p>
          <a:p>
            <a:pPr algn="ctr"/>
            <a:r>
              <a:rPr sz="1100">
                <a:solidFill>
                  <a:srgbClr val="5B6573"/>
                </a:solidFill>
                <a:latin typeface="Calibri"/>
              </a:rPr>
              <a:t>pinned 4c42890</a:t>
            </a:r>
          </a:p>
          <a:p>
            <a:pPr algn="ctr"/>
            <a:r>
              <a:rPr sz="1100">
                <a:solidFill>
                  <a:srgbClr val="5B6573"/>
                </a:solidFill>
                <a:latin typeface="Calibri"/>
              </a:rPr>
              <a:t>verifier under test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880360"/>
            <a:ext cx="1737360" cy="91440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 w="1905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F2937"/>
                </a:solidFill>
                <a:latin typeface="Calibri"/>
              </a:rPr>
              <a:t>eSignet + mock identity</a:t>
            </a:r>
          </a:p>
          <a:p>
            <a:pPr algn="ctr"/>
            <a:r>
              <a:rPr sz="1100">
                <a:solidFill>
                  <a:srgbClr val="5B6573"/>
                </a:solidFill>
                <a:latin typeface="Calibri"/>
              </a:rPr>
              <a:t>TLS gateway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3977640"/>
            <a:ext cx="3657600" cy="731520"/>
          </a:xfrm>
          <a:prstGeom prst="roundRect">
            <a:avLst>
              <a:gd name="adj" fmla="val 6000"/>
            </a:avLst>
          </a:prstGeom>
          <a:solidFill>
            <a:srgbClr val="EAF6EC"/>
          </a:solidFill>
          <a:ln w="19050">
            <a:solidFill>
              <a:srgbClr val="3F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F2937"/>
                </a:solidFill>
                <a:latin typeface="Calibri"/>
              </a:rPr>
              <a:t>Local MinIO (source-built, pinned)</a:t>
            </a:r>
          </a:p>
          <a:p>
            <a:pPr algn="ctr"/>
            <a:r>
              <a:rPr sz="1100">
                <a:solidFill>
                  <a:srgbClr val="5B6573"/>
                </a:solidFill>
                <a:latin typeface="Calibri"/>
              </a:rPr>
              <a:t>native reports uploaded, hashes read back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869680" y="1783080"/>
            <a:ext cx="2773680" cy="64008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 w="1905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F2937"/>
                </a:solidFill>
                <a:latin typeface="Calibri"/>
              </a:rPr>
              <a:t>combined-results.json</a:t>
            </a:r>
          </a:p>
          <a:p>
            <a:pPr algn="ctr"/>
            <a:r>
              <a:rPr sz="1000">
                <a:solidFill>
                  <a:srgbClr val="5B6573"/>
                </a:solidFill>
                <a:latin typeface="Calibri"/>
              </a:rPr>
              <a:t>status, failed conditions, req ids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869680" y="2606040"/>
            <a:ext cx="2773680" cy="64008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 w="1905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F2937"/>
                </a:solidFill>
                <a:latin typeface="Calibri"/>
              </a:rPr>
              <a:t>native reports + S3 receipt</a:t>
            </a:r>
          </a:p>
          <a:p>
            <a:pPr algn="ctr"/>
            <a:r>
              <a:rPr sz="1000">
                <a:solidFill>
                  <a:srgbClr val="5B6573"/>
                </a:solidFill>
                <a:latin typeface="Calibri"/>
              </a:rPr>
              <a:t>TestNG XML, Extent HTML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69680" y="3429000"/>
            <a:ext cx="2773680" cy="64008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 w="1905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F2937"/>
                </a:solidFill>
                <a:latin typeface="Calibri"/>
              </a:rPr>
              <a:t>cleanup.json (cleanup_verified)</a:t>
            </a:r>
          </a:p>
          <a:p>
            <a:pPr algn="ctr"/>
            <a:r>
              <a:rPr sz="1000">
                <a:solidFill>
                  <a:srgbClr val="5B6573"/>
                </a:solidFill>
                <a:latin typeface="Calibri"/>
              </a:rPr>
              <a:t>hosts restored, nothing left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869680" y="4251960"/>
            <a:ext cx="2773680" cy="45720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 w="1905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F2937"/>
                </a:solidFill>
                <a:latin typeface="Calibri"/>
              </a:rPr>
              <a:t>audit_evidence.py</a:t>
            </a:r>
          </a:p>
          <a:p>
            <a:pPr algn="ctr"/>
            <a:r>
              <a:rPr sz="1000">
                <a:solidFill>
                  <a:srgbClr val="5B6573"/>
                </a:solidFill>
                <a:latin typeface="Calibri"/>
              </a:rPr>
              <a:t>public files only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566160" y="3108960"/>
            <a:ext cx="548640" cy="0"/>
          </a:xfrm>
          <a:prstGeom prst="line">
            <a:avLst/>
          </a:prstGeom>
          <a:ln w="19050">
            <a:solidFill>
              <a:srgbClr val="6B72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8138160" y="3108960"/>
            <a:ext cx="548640" cy="0"/>
          </a:xfrm>
          <a:prstGeom prst="line">
            <a:avLst/>
          </a:prstGeom>
          <a:ln w="19050">
            <a:solidFill>
              <a:srgbClr val="6B72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365760" y="5029200"/>
            <a:ext cx="1146048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F2937"/>
                </a:solidFill>
                <a:latin typeface="Calibri"/>
              </a:rPr>
              <a:t>Recorded outcomes on hosted runners (selected happy flows)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5760" y="5349240"/>
            <a:ext cx="3749040" cy="914400"/>
          </a:xfrm>
          <a:prstGeom prst="roundRect">
            <a:avLst>
              <a:gd name="adj" fmla="val 6000"/>
            </a:avLst>
          </a:prstGeom>
          <a:solidFill>
            <a:srgbClr val="FDECEC"/>
          </a:solidFill>
          <a:ln w="19050">
            <a:solidFill>
              <a:srgbClr val="B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F2937"/>
                </a:solidFill>
                <a:latin typeface="Calibri"/>
              </a:rPr>
              <a:t>Certify: module FAILED</a:t>
            </a:r>
          </a:p>
          <a:p>
            <a:pPr algn="ctr"/>
            <a:r>
              <a:rPr sz="1000">
                <a:solidFill>
                  <a:srgbClr val="5B6573"/>
                </a:solidFill>
                <a:latin typeface="Calibri"/>
              </a:rPr>
              <a:t>suite check EnsureHttpStatusCodeIsAnyOf (OID4VCI-1FINAL-8.3)</a:t>
            </a:r>
          </a:p>
          <a:p>
            <a:pPr algn="ctr"/>
            <a:r>
              <a:rPr sz="1000">
                <a:solidFill>
                  <a:srgbClr val="5B6573"/>
                </a:solidFill>
                <a:latin typeface="Calibri"/>
              </a:rPr>
              <a:t>root cause not established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51960" y="5349240"/>
            <a:ext cx="3749040" cy="914400"/>
          </a:xfrm>
          <a:prstGeom prst="roundRect">
            <a:avLst>
              <a:gd name="adj" fmla="val 6000"/>
            </a:avLst>
          </a:prstGeom>
          <a:solidFill>
            <a:srgbClr val="FFF4E5"/>
          </a:solidFill>
          <a:ln w="19050">
            <a:solidFill>
              <a:srgbClr val="C276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F2937"/>
                </a:solidFill>
                <a:latin typeface="Calibri"/>
              </a:rPr>
              <a:t>Verify: REVIEW</a:t>
            </a:r>
          </a:p>
          <a:p>
            <a:pPr algn="ctr"/>
            <a:r>
              <a:rPr sz="1000">
                <a:solidFill>
                  <a:srgbClr val="5B6573"/>
                </a:solidFill>
                <a:latin typeface="Calibri"/>
              </a:rPr>
              <a:t>needs a human decision (revocation list WARNING)</a:t>
            </a:r>
          </a:p>
          <a:p>
            <a:pPr algn="ctr"/>
            <a:r>
              <a:rPr sz="1000">
                <a:solidFill>
                  <a:srgbClr val="5B6573"/>
                </a:solidFill>
                <a:latin typeface="Calibri"/>
              </a:rPr>
              <a:t>project PNG is not native Verify UI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38160" y="5349240"/>
            <a:ext cx="3688080" cy="91440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 w="1905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F2937"/>
                </a:solidFill>
                <a:latin typeface="Calibri"/>
              </a:rPr>
              <a:t>Not run on hosted</a:t>
            </a:r>
          </a:p>
          <a:p>
            <a:pPr algn="ctr"/>
            <a:r>
              <a:rPr sz="1000">
                <a:solidFill>
                  <a:srgbClr val="5B6573"/>
                </a:solidFill>
                <a:latin typeface="Calibri"/>
              </a:rPr>
              <a:t>Verify-only via script, full official plans,</a:t>
            </a:r>
          </a:p>
          <a:p>
            <a:pPr algn="ctr"/>
            <a:r>
              <a:rPr sz="1000">
                <a:solidFill>
                  <a:srgbClr val="5B6573"/>
                </a:solidFill>
                <a:latin typeface="Calibri"/>
              </a:rPr>
              <a:t>expected-failure baseline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6355080"/>
            <a:ext cx="1146048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B6573"/>
                </a:solidFill>
                <a:latin typeface="Calibri"/>
              </a:rPr>
              <a:t>Certify-only through the one-command script: proven end to end. Combined Certify + Verify: proven via the phased workflow.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