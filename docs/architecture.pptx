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Calibri"/>
              </a:rPr>
              <a:t>MOSIP Inji OpenID Conformance Automation: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6573"/>
                </a:solidFill>
                <a:latin typeface="Calibri"/>
              </a:rPr>
              <a:t>Run once, test Inji Certify (OpenID4VCI) and Inji Verify (OpenID4VP) against the OpenID Foundation Conformance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25880"/>
            <a:ext cx="3200400" cy="4892040"/>
          </a:xfrm>
          <a:prstGeom prst="roundRect">
            <a:avLst>
              <a:gd name="adj" fmla="val 3000"/>
            </a:avLst>
          </a:prstGeom>
          <a:noFill/>
          <a:ln w="1587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91440" wrap="square"/>
          <a:lstStyle/>
          <a:p>
            <a:pPr algn="ctr"/>
            <a:r>
              <a:rPr sz="1200" b="1">
                <a:solidFill>
                  <a:srgbClr val="5B6573"/>
                </a:solidFill>
                <a:latin typeface="Calibri"/>
              </a:rPr>
              <a:t>Host (this repository)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325880"/>
            <a:ext cx="3017520" cy="4892040"/>
          </a:xfrm>
          <a:prstGeom prst="roundRect">
            <a:avLst>
              <a:gd name="adj" fmla="val 3000"/>
            </a:avLst>
          </a:prstGeom>
          <a:noFill/>
          <a:ln w="1587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91440" wrap="square"/>
          <a:lstStyle/>
          <a:p>
            <a:pPr algn="ctr"/>
            <a:r>
              <a:rPr sz="1200" b="1">
                <a:solidFill>
                  <a:srgbClr val="5B6573"/>
                </a:solidFill>
                <a:latin typeface="Calibri"/>
              </a:rPr>
              <a:t>Docker Compose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1325880"/>
            <a:ext cx="2514600" cy="4892040"/>
          </a:xfrm>
          <a:prstGeom prst="roundRect">
            <a:avLst>
              <a:gd name="adj" fmla="val 3000"/>
            </a:avLst>
          </a:prstGeom>
          <a:noFill/>
          <a:ln w="1587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91440" wrap="square"/>
          <a:lstStyle/>
          <a:p>
            <a:pPr algn="ctr"/>
            <a:r>
              <a:rPr sz="1200" b="1">
                <a:solidFill>
                  <a:srgbClr val="5B6573"/>
                </a:solidFill>
                <a:latin typeface="Calibri"/>
              </a:rPr>
              <a:t>System under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2834640" cy="11887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docker/configs/</a:t>
            </a:r>
          </a:p>
          <a:p>
            <a:pPr algn="ctr"/>
            <a:r>
              <a:rPr sz="1100" b="0">
                <a:solidFill>
                  <a:srgbClr val="5B6573"/>
                </a:solidFill>
                <a:latin typeface="Calibri"/>
              </a:rPr>
              <a:t>certify-issuer-config.json</a:t>
            </a:r>
          </a:p>
          <a:p>
            <a:pPr algn="ctr"/>
            <a:r>
              <a:rPr sz="1100" b="0">
                <a:solidFill>
                  <a:srgbClr val="5B6573"/>
                </a:solidFill>
                <a:latin typeface="Calibri"/>
              </a:rPr>
              <a:t>verify-verifier-config.json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66160"/>
            <a:ext cx="2834640" cy="118872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9050">
            <a:solidFill>
              <a:srgbClr val="2F5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scripts/conformance_runner.py</a:t>
            </a:r>
          </a:p>
          <a:p>
            <a:pPr algn="ctr"/>
            <a:r>
              <a:rPr sz="1100" b="0">
                <a:solidFill>
                  <a:srgbClr val="5B6573"/>
                </a:solidFill>
                <a:latin typeface="Calibri"/>
              </a:rPr>
              <a:t>Python + requests</a:t>
            </a:r>
          </a:p>
          <a:p>
            <a:pPr algn="ctr"/>
            <a:r>
              <a:rPr sz="1100" b="0">
                <a:solidFill>
                  <a:srgbClr val="5B6573"/>
                </a:solidFill>
                <a:latin typeface="Calibri"/>
              </a:rPr>
              <a:t>--component certify | verify | --combined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120640"/>
            <a:ext cx="283464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conformance-results.json</a:t>
            </a:r>
          </a:p>
          <a:p>
            <a:pPr algn="ctr"/>
            <a:r>
              <a:rPr sz="1100" b="0">
                <a:solidFill>
                  <a:srgbClr val="5B6573"/>
                </a:solidFill>
                <a:latin typeface="Calibri"/>
              </a:rPr>
              <a:t>JSON summary, git-ignored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3566160"/>
            <a:ext cx="2468880" cy="118872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Conformance Suite server</a:t>
            </a:r>
          </a:p>
          <a:p>
            <a:pPr algn="ctr"/>
            <a:r>
              <a:rPr sz="1100" b="0">
                <a:solidFill>
                  <a:srgbClr val="5B6573"/>
                </a:solidFill>
                <a:latin typeface="Calibri"/>
              </a:rPr>
              <a:t>registry.gitlab.com/openid/</a:t>
            </a:r>
          </a:p>
          <a:p>
            <a:pPr algn="ctr"/>
            <a:r>
              <a:rPr sz="1100" b="0">
                <a:solidFill>
                  <a:srgbClr val="5B6573"/>
                </a:solidFill>
                <a:latin typeface="Calibri"/>
              </a:rPr>
              <a:t>conformance-suite  :8080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512064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MongoDB 6.0  :27017</a:t>
            </a:r>
          </a:p>
          <a:p>
            <a:pPr algn="ctr"/>
            <a:r>
              <a:rPr sz="1100" b="0">
                <a:solidFill>
                  <a:srgbClr val="5B6573"/>
                </a:solidFill>
                <a:latin typeface="Calibri"/>
              </a:rPr>
              <a:t>volume: mongo_data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920240"/>
            <a:ext cx="2148840" cy="146304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9050">
            <a:solidFill>
              <a:srgbClr val="C2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Inji Certify</a:t>
            </a:r>
          </a:p>
          <a:p>
            <a:pPr algn="ctr"/>
            <a:r>
              <a:rPr sz="1100" b="0">
                <a:solidFill>
                  <a:srgbClr val="5B6573"/>
                </a:solidFill>
                <a:latin typeface="Calibri"/>
              </a:rPr>
              <a:t>issuer, :8081</a:t>
            </a:r>
          </a:p>
          <a:p>
            <a:pPr algn="ctr"/>
            <a:r>
              <a:rPr sz="1100" b="0">
                <a:solidFill>
                  <a:srgbClr val="5B6573"/>
                </a:solidFill>
                <a:latin typeface="Calibri"/>
              </a:rPr>
              <a:t>certify.local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4297680"/>
            <a:ext cx="2148840" cy="146304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9050">
            <a:solidFill>
              <a:srgbClr val="C2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Inji Verify</a:t>
            </a:r>
          </a:p>
          <a:p>
            <a:pPr algn="ctr"/>
            <a:r>
              <a:rPr sz="1100" b="0">
                <a:solidFill>
                  <a:srgbClr val="5B6573"/>
                </a:solidFill>
                <a:latin typeface="Calibri"/>
              </a:rPr>
              <a:t>verifier, :8082</a:t>
            </a:r>
          </a:p>
          <a:p>
            <a:pPr algn="ctr"/>
            <a:r>
              <a:rPr sz="1100" b="0">
                <a:solidFill>
                  <a:srgbClr val="5B6573"/>
                </a:solidFill>
                <a:latin typeface="Calibri"/>
              </a:rPr>
              <a:t>verify.local</a:t>
            </a:r>
          </a:p>
        </p:txBody>
      </p:sp>
      <p:cxnSp>
        <p:nvCxnSpPr>
          <p:cNvPr id="14" name="Connector 13"/>
          <p:cNvCxnSpPr>
            <a:stCxn id="7" idx="2"/>
            <a:endCxn id="8" idx="0"/>
          </p:cNvCxnSpPr>
          <p:nvPr/>
        </p:nvCxnSpPr>
        <p:spPr>
          <a:xfrm flipH="1">
            <a:off x="1965960" y="3108960"/>
            <a:ext cx="0" cy="457200"/>
          </a:xfrm>
          <a:prstGeom prst="line">
            <a:avLst/>
          </a:prstGeom>
          <a:ln w="25400">
            <a:solidFill>
              <a:srgbClr val="3741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084831" y="3200400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load JSON</a:t>
            </a:r>
          </a:p>
        </p:txBody>
      </p:sp>
      <p:cxnSp>
        <p:nvCxnSpPr>
          <p:cNvPr id="16" name="Connector 15"/>
          <p:cNvCxnSpPr>
            <a:stCxn id="8" idx="2"/>
            <a:endCxn id="9" idx="0"/>
          </p:cNvCxnSpPr>
          <p:nvPr/>
        </p:nvCxnSpPr>
        <p:spPr>
          <a:xfrm flipH="1">
            <a:off x="1965960" y="4754880"/>
            <a:ext cx="0" cy="365760"/>
          </a:xfrm>
          <a:prstGeom prst="line">
            <a:avLst/>
          </a:prstGeom>
          <a:ln w="25400">
            <a:solidFill>
              <a:srgbClr val="3741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084831" y="4800600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write results</a:t>
            </a:r>
          </a:p>
        </p:txBody>
      </p:sp>
      <p:cxnSp>
        <p:nvCxnSpPr>
          <p:cNvPr id="18" name="Connector 17"/>
          <p:cNvCxnSpPr>
            <a:stCxn id="8" idx="3"/>
            <a:endCxn id="10" idx="1"/>
          </p:cNvCxnSpPr>
          <p:nvPr/>
        </p:nvCxnSpPr>
        <p:spPr>
          <a:xfrm flipV="1">
            <a:off x="3383280" y="4160520"/>
            <a:ext cx="1920240" cy="0"/>
          </a:xfrm>
          <a:prstGeom prst="line">
            <a:avLst/>
          </a:prstGeom>
          <a:ln w="25400">
            <a:solidFill>
              <a:srgbClr val="3741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11880" y="4005072"/>
            <a:ext cx="137160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GET  /api/plan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POST /api/plan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POST /api/runner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GET  /api/log/{id}</a:t>
            </a:r>
          </a:p>
        </p:txBody>
      </p:sp>
      <p:cxnSp>
        <p:nvCxnSpPr>
          <p:cNvPr id="20" name="Connector 19"/>
          <p:cNvCxnSpPr>
            <a:stCxn id="10" idx="2"/>
            <a:endCxn id="11" idx="0"/>
          </p:cNvCxnSpPr>
          <p:nvPr/>
        </p:nvCxnSpPr>
        <p:spPr>
          <a:xfrm flipH="1">
            <a:off x="6537960" y="4754880"/>
            <a:ext cx="0" cy="365760"/>
          </a:xfrm>
          <a:prstGeom prst="line">
            <a:avLst/>
          </a:prstGeom>
          <a:ln w="25400">
            <a:solidFill>
              <a:srgbClr val="37415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0" y="4773168"/>
            <a:ext cx="1143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Mongo URI</a:t>
            </a:r>
          </a:p>
        </p:txBody>
      </p:sp>
      <p:cxnSp>
        <p:nvCxnSpPr>
          <p:cNvPr id="22" name="Connector 21"/>
          <p:cNvCxnSpPr>
            <a:stCxn id="10" idx="3"/>
            <a:endCxn id="12" idx="1"/>
          </p:cNvCxnSpPr>
          <p:nvPr/>
        </p:nvCxnSpPr>
        <p:spPr>
          <a:xfrm flipV="1">
            <a:off x="7772400" y="2651760"/>
            <a:ext cx="1737360" cy="1508760"/>
          </a:xfrm>
          <a:prstGeom prst="line">
            <a:avLst/>
          </a:prstGeom>
          <a:ln w="25400">
            <a:solidFill>
              <a:srgbClr val="3741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10" idx="3"/>
            <a:endCxn id="13" idx="1"/>
          </p:cNvCxnSpPr>
          <p:nvPr/>
        </p:nvCxnSpPr>
        <p:spPr>
          <a:xfrm>
            <a:off x="7772400" y="4160520"/>
            <a:ext cx="1737360" cy="868680"/>
          </a:xfrm>
          <a:prstGeom prst="line">
            <a:avLst/>
          </a:prstGeom>
          <a:ln w="25400">
            <a:solidFill>
              <a:srgbClr val="3741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092440" y="3154680"/>
            <a:ext cx="1097280" cy="457200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>
                <a:solidFill>
                  <a:srgbClr val="1F2937"/>
                </a:solidFill>
                <a:latin typeface="Consolas"/>
              </a:rPr>
              <a:t>OpenID4VCI</a:t>
            </a:r>
          </a:p>
          <a:p>
            <a:pPr algn="ctr"/>
            <a:r>
              <a:rPr sz="1000">
                <a:solidFill>
                  <a:srgbClr val="1F2937"/>
                </a:solidFill>
                <a:latin typeface="Consolas"/>
              </a:rPr>
              <a:t>issuer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4434840"/>
            <a:ext cx="1097280" cy="457200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>
                <a:solidFill>
                  <a:srgbClr val="1F2937"/>
                </a:solidFill>
                <a:latin typeface="Consolas"/>
              </a:rPr>
              <a:t>OpenID4VP</a:t>
            </a:r>
          </a:p>
          <a:p>
            <a:pPr algn="ctr"/>
            <a:r>
              <a:rPr sz="1000">
                <a:solidFill>
                  <a:srgbClr val="1F2937"/>
                </a:solidFill>
                <a:latin typeface="Consolas"/>
              </a:rPr>
              <a:t>verifier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3474720"/>
            <a:ext cx="22860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>
                <a:solidFill>
                  <a:srgbClr val="1F2937"/>
                </a:solidFill>
                <a:latin typeface="Consolas"/>
              </a:rPr>
              <a:t>started separately;</a:t>
            </a:r>
          </a:p>
          <a:p>
            <a:pPr algn="ctr"/>
            <a:r>
              <a:rPr sz="900">
                <a:solidFill>
                  <a:srgbClr val="1F2937"/>
                </a:solidFill>
                <a:latin typeface="Consolas"/>
              </a:rPr>
              <a:t>URLs set in the configs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5833872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>
                <a:solidFill>
                  <a:srgbClr val="1F2937"/>
                </a:solidFill>
                <a:latin typeface="Consolas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